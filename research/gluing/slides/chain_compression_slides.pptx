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6413339"/>
            <a:ext cx="8254793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Поиск траекторий с примитивами движения · СПбГУ,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2142" y="6413339"/>
            <a:ext cx="1269968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904952"/>
            <a:ext cx="10972525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75C66"/>
                </a:solidFill>
                <a:latin typeface="Golos Text"/>
              </a:rPr>
              <a:t>Раздел: сжатие цепочек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349441"/>
            <a:ext cx="10972525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16181D"/>
                </a:solidFill>
                <a:latin typeface="Golos Text"/>
              </a:rPr>
              <a:t>Развёртка пучка манёвров — дерево, и это ускоряет MeshA*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3555911"/>
            <a:ext cx="10972525" cy="10159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75C66"/>
                </a:solidFill>
                <a:latin typeface="Golos Text"/>
              </a:rPr>
              <a:t>Доказываем три утверждения, сравниваем две реализации идеи на одном стенде и объединяем лучшее из обеих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06389"/>
            <a:ext cx="10972525" cy="1079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16181D"/>
                </a:solidFill>
                <a:latin typeface="Golos Text"/>
              </a:rPr>
              <a:t>Под каждой начальной клеткой — дерево; в нём 42% внутренних клеток имеют одного потомка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413339"/>
            <a:ext cx="8254793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Поиск траекторий с примитивами движения · СПбГУ,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2142" y="6413339"/>
            <a:ext cx="1269968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C2</a:t>
            </a:r>
          </a:p>
        </p:txBody>
      </p:sp>
      <p:pic>
        <p:nvPicPr>
          <p:cNvPr id="5" name="Picture 4" descr="fig_tree_bund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" y="1587460"/>
            <a:ext cx="6349841" cy="41226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29314" y="1650958"/>
            <a:ext cx="4152796" cy="4444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575C66"/>
                </a:solidFill>
                <a:latin typeface="Golos Text"/>
              </a:rPr>
              <a:t>Что показано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81D"/>
                </a:solidFill>
                <a:latin typeface="Golos Text"/>
              </a:rPr>
              <a:t>Пучок курса θ = 0 базового набора: 24 манёвра, 51 внутренняя клетка.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75C66"/>
                </a:solidFill>
                <a:latin typeface="Golos Text"/>
              </a:rPr>
              <a:t>На что смотреть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350D8"/>
                </a:solidFill>
                <a:latin typeface="Golos Text"/>
              </a:rPr>
              <a:t>Синие звенья</a:t>
            </a:r>
            <a:r>
              <a:rPr sz="1400" b="0">
                <a:solidFill>
                  <a:srgbClr val="16181D"/>
                </a:solidFill>
                <a:latin typeface="Golos Text"/>
              </a:rPr>
              <a:t> — клетки с единственным неначальным потомком. По ним f не меняется, поэтому их можно пройти подряд, не кладя в OPEN.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75C66"/>
                </a:solidFill>
                <a:latin typeface="Golos Text"/>
              </a:rPr>
              <a:t>Обозначения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81D"/>
                </a:solidFill>
                <a:latin typeface="Golos Text"/>
              </a:rPr>
              <a:t>Серые — ветвления, квадраты — концы манёвров (новые начальные клетки).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06389"/>
            <a:ext cx="10972525" cy="1079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16181D"/>
                </a:solidFill>
                <a:latin typeface="Golos Text"/>
              </a:rPr>
              <a:t>Три утверждения дают корректность любой склейки; две леммы проверены на всей таблице переходов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413339"/>
            <a:ext cx="8254793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Поиск траекторий с примитивами движения · СПбГУ,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2142" y="6413339"/>
            <a:ext cx="1269968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C3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584" y="1587460"/>
          <a:ext cx="10972524" cy="2997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2508"/>
                <a:gridCol w="5700013"/>
                <a:gridCol w="1710003"/>
              </a:tblGrid>
              <a:tr h="74928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6181D"/>
                          </a:solidFill>
                          <a:latin typeface="Golos Text"/>
                        </a:rPr>
                        <a:t>Утверждение</a:t>
                      </a:r>
                    </a:p>
                  </a:txBody>
                  <a:tcPr marL="76198" marR="76198" marT="25399" marB="25399" anchor="ctr"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6181D"/>
                          </a:solidFill>
                          <a:latin typeface="Golos Text"/>
                        </a:rPr>
                        <a:t>Почему верно</a:t>
                      </a:r>
                    </a:p>
                  </a:txBody>
                  <a:tcPr marL="76198" marR="76198" marT="25399" marB="25399" anchor="ctr"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6181D"/>
                          </a:solidFill>
                          <a:latin typeface="Golos Text"/>
                        </a:rPr>
                        <a:t>Проверка</a:t>
                      </a:r>
                    </a:p>
                  </a:txBody>
                  <a:tcPr marL="76198" marR="76198" marT="25399" marB="25399" anchor="ctr">
                    <a:solidFill>
                      <a:srgbClr val="F1F2F4"/>
                    </a:solidFill>
                  </a:tcPr>
                </a:tc>
              </a:tr>
              <a:tr h="74928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Лемма 1. У неначальной клетки ровно один предок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конфигурация = курс + общий префикс следа; по ней однозначно восстанавливается предок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864 из 864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</a:tr>
              <a:tr h="74928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Лемма 2. На звене цепочки f не меняется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один потомок ⇒ те же манёвры с k + 1 ⇒ те же концы ⇒ g и h те же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364 из 364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</a:tr>
              <a:tr h="74928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Теорема. Сжатый поиск оптимален и полон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пути и стоимости те же, h остаётся согласованной, цель не внутри цепочки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0 расхождений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584" y="4825879"/>
            <a:ext cx="10972525" cy="13969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6181D"/>
                </a:solidFill>
                <a:latin typeface="Golos Text"/>
              </a:rPr>
              <a:t>Следствие леммы 1: </a:t>
            </a:r>
            <a:r>
              <a:rPr sz="1400" b="0">
                <a:solidFill>
                  <a:srgbClr val="16181D"/>
                </a:solidFill>
                <a:latin typeface="Golos Text"/>
              </a:rPr>
              <a:t>дубликатов неначальных клеток не бывает, поэтому CLOSED нужен только начальным клеткам: 309 МиБ → 2,7 МиБ.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6181D"/>
                </a:solidFill>
                <a:latin typeface="Golos Text"/>
              </a:rPr>
              <a:t>Связь с кодом: </a:t>
            </a:r>
            <a:r>
              <a:rPr sz="1400" b="0">
                <a:solidFill>
                  <a:srgbClr val="16181D"/>
                </a:solidFill>
                <a:latin typeface="Golos Text"/>
              </a:rPr>
              <a:t>в MeshAStar_gluing склейка включается только после проверки ровно этих условий (один предок, совпадение Finals). Леммы объясняют, почему проверка всегда проходит.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06389"/>
            <a:ext cx="10972525" cy="1079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16181D"/>
                </a:solidFill>
                <a:latin typeface="Golos Text"/>
              </a:rPr>
              <a:t>Одна идея, две реализации: склеиваем при генерации кандидата или при раскрытии вершины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413339"/>
            <a:ext cx="8254793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Поиск траекторий с примитивами движения · СПбГУ,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2142" y="6413339"/>
            <a:ext cx="1269968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C4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584" y="1587460"/>
          <a:ext cx="10972525" cy="3657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05"/>
                <a:gridCol w="4389010"/>
                <a:gridCol w="4389010"/>
              </a:tblGrid>
              <a:tr h="6095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6181D"/>
                          </a:solidFill>
                          <a:latin typeface="Golos Text"/>
                        </a:rPr>
                        <a:t/>
                      </a:r>
                    </a:p>
                  </a:txBody>
                  <a:tcPr marL="76198" marR="76198" marT="25399" marB="25399" anchor="ctr"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6181D"/>
                          </a:solidFill>
                          <a:latin typeface="Golos Text"/>
                        </a:rPr>
                        <a:t>Склейка (MeshAStar_gluing)</a:t>
                      </a:r>
                    </a:p>
                  </a:txBody>
                  <a:tcPr marL="76198" marR="76198" marT="25399" marB="25399" anchor="ctr"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6181D"/>
                          </a:solidFill>
                          <a:latin typeface="Golos Text"/>
                        </a:rPr>
                        <a:t>Сжатие (моё)</a:t>
                      </a:r>
                    </a:p>
                  </a:txBody>
                  <a:tcPr marL="76198" marR="76198" marT="25399" marB="25399" anchor="ctr">
                    <a:solidFill>
                      <a:srgbClr val="F1F2F4"/>
                    </a:solidFill>
                  </a:tcPr>
                </a:tc>
              </a:tr>
              <a:tr h="6095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Когда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до вставки потомка в OPEN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после извлечения вершины из OPEN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</a:tr>
              <a:tr h="6095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Что кладётся в OPEN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конец цепочки — одна вершина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потомки конца цепочки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</a:tr>
              <a:tr h="6095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Дополнительно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один оставшийся манёвр сразу до конца (w = 1)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компактный CLOSED (следствие леммы 1)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</a:tr>
              <a:tr h="6095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Подготовка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таблица путей + проверка условий лемм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таблица прыжков, строится один раз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</a:tr>
              <a:tr h="6095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Стоимость пути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сохраняется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сохраняется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584" y="5460863"/>
            <a:ext cx="10972525" cy="63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75C66"/>
                </a:solidFill>
                <a:latin typeface="Golos Text"/>
              </a:rPr>
              <a:t>Обе версии проверяют каждую клетку цепочки на препятствия и не перепрыгивают начальные клетки. Отличие только в моменте склейки и в CLOSED.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06389"/>
            <a:ext cx="10972525" cy="1079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16181D"/>
                </a:solidFill>
                <a:latin typeface="Golos Text"/>
              </a:rPr>
              <a:t>На одном стенде лучшая комбинация — склейка + компактный CLOSED: −20,4% и −18,4% времени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413339"/>
            <a:ext cx="8254793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Поиск траекторий с примитивами движения · СПбГУ,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2142" y="6413339"/>
            <a:ext cx="1269968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C5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1460463"/>
            <a:ext cx="10972525" cy="3174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Стенд bench.cpp из MeshAStar_gluing: каждый процесс однопоточный и закреплён за своим ядром (2 процесса одновременно), CPU-время потока; сумма медиан по задачам, отрезок — 95% ДИ (бутстрэп по картам).</a:t>
            </a:r>
          </a:p>
        </p:txBody>
      </p:sp>
      <p:pic>
        <p:nvPicPr>
          <p:cNvPr id="6" name="Picture 5" descr="fig_compare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" y="1904952"/>
            <a:ext cx="10972525" cy="39187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584" y="5905352"/>
            <a:ext cx="10972525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Основной набор — 2 сеанса × 5 замеров, отложенные карты — 3 замера; w = 1, наборы base и add. Linux-ВМ, 4 ядра; прогон run_compare.py из репозитория meshastar-gluing.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06389"/>
            <a:ext cx="10972525" cy="1079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16181D"/>
                </a:solidFill>
                <a:latin typeface="Golos Text"/>
              </a:rPr>
              <a:t>Склейка экономит больше вставок в OPEN, сжатие — больше просмотров Finals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413339"/>
            <a:ext cx="8254793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Поиск траекторий с примитивами движения · СПбГУ,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2142" y="6413339"/>
            <a:ext cx="1269968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C6</a:t>
            </a:r>
          </a:p>
        </p:txBody>
      </p:sp>
      <p:pic>
        <p:nvPicPr>
          <p:cNvPr id="5" name="Picture 4" descr="fig_compare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" y="1587460"/>
            <a:ext cx="6349841" cy="39369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29314" y="1650958"/>
            <a:ext cx="4152796" cy="4444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75C66"/>
                </a:solidFill>
                <a:latin typeface="Golos Text"/>
              </a:rPr>
              <a:t>Что показано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6181D"/>
                </a:solidFill>
                <a:latin typeface="Golos Text"/>
              </a:rPr>
              <a:t>Сумма операций по 24 задачам основного набора, отдельный прогон со счётчиками.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75C66"/>
                </a:solidFill>
                <a:latin typeface="Golos Text"/>
              </a:rPr>
              <a:t>Почему склейка быстрее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6181D"/>
                </a:solidFill>
                <a:latin typeface="Golos Text"/>
              </a:rPr>
              <a:t>Она кладёт в OPEN одну вершину на цепочку: вставок −25% против −18%. Куча — самая дорогая структура поиска.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75C66"/>
                </a:solidFill>
                <a:latin typeface="Golos Text"/>
              </a:rPr>
              <a:t>Почему CLOSED помогает обеим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6181D"/>
                </a:solidFill>
                <a:latin typeface="Golos Text"/>
              </a:rPr>
              <a:t>Битовая маска 309 МиБ почти не помещается в кэш; 2,7 МиБ помещается. Это даёт ещё 3–10 п. п. времени.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06389"/>
            <a:ext cx="10972525" cy="1079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16181D"/>
                </a:solidFill>
                <a:latin typeface="Golos Text"/>
              </a:rPr>
              <a:t>Склейка с компактным CLOSED корректна и устойчиво быстрее исходного MeshA*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413339"/>
            <a:ext cx="8254793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Поиск траекторий с примитивами движения · СПбГУ,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2142" y="6413339"/>
            <a:ext cx="1269968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C7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095447"/>
            <a:ext cx="3428914" cy="10159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0">
                <a:solidFill>
                  <a:srgbClr val="2350D8"/>
                </a:solidFill>
                <a:latin typeface="Golos Text"/>
              </a:rPr>
              <a:t>−20,4%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3174920"/>
            <a:ext cx="3428914" cy="5079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6181D"/>
                </a:solidFill>
                <a:latin typeface="Golos Text"/>
              </a:rPr>
              <a:t>времени на основном наборе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3746406"/>
            <a:ext cx="3428914" cy="10159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24 задачи, 10 замеров, быстрее в 24 из 24, 95% ДИ −9…−27%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5991" y="2095447"/>
            <a:ext cx="3428914" cy="10159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0">
                <a:solidFill>
                  <a:srgbClr val="2350D8"/>
                </a:solidFill>
                <a:latin typeface="Golos Text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5991" y="3174920"/>
            <a:ext cx="3428914" cy="5079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6181D"/>
                </a:solidFill>
                <a:latin typeface="Golos Text"/>
              </a:rPr>
              <a:t>расхождений стоимости пути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5991" y="3746406"/>
            <a:ext cx="3428914" cy="10159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48 задач стенда и 172 задачи широкого прогона при w =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2397" y="2095447"/>
            <a:ext cx="3428914" cy="10159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0">
                <a:solidFill>
                  <a:srgbClr val="2350D8"/>
                </a:solidFill>
                <a:latin typeface="Golos Text"/>
              </a:rPr>
              <a:t>2,7 МиБ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2397" y="3174920"/>
            <a:ext cx="3428914" cy="5079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6181D"/>
                </a:solidFill>
                <a:latin typeface="Golos Text"/>
              </a:rPr>
              <a:t>CLOSED вместо 309 МиБ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2397" y="3746406"/>
            <a:ext cx="3428914" cy="10159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следствие леммы 1: неначальные клетки не повторяются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" y="5714857"/>
            <a:ext cx="10972525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Время поиска без загрузки карты и создания CLOSED. Данные и скрипты: meshastar-gluing/research/gluing (run_compare.py, results/linux_compare).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06389"/>
            <a:ext cx="10972525" cy="1079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16181D"/>
                </a:solidFill>
                <a:latin typeface="Golos Text"/>
              </a:rPr>
              <a:t>Итог: теория обосновывает склейку, а её лучший вариант ускоряет поиск на 18–20%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413339"/>
            <a:ext cx="8254793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Поиск траекторий с примитивами движения · СПбГУ,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2142" y="6413339"/>
            <a:ext cx="1269968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C8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1587460"/>
            <a:ext cx="5206869" cy="4444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575C66"/>
                </a:solidFill>
                <a:latin typeface="Golos Text"/>
              </a:rPr>
              <a:t>Что получилось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81D"/>
                </a:solidFill>
                <a:latin typeface="Golos Text"/>
              </a:rPr>
              <a:t>Доказано: пучок — дерево, f постоянно на цепочке, сжатый поиск оптимален и полон.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81D"/>
                </a:solidFill>
                <a:latin typeface="Golos Text"/>
              </a:rPr>
              <a:t>Склейка при генерации: </a:t>
            </a:r>
            <a:r>
              <a:rPr sz="1400" b="0">
                <a:solidFill>
                  <a:srgbClr val="2350D8"/>
                </a:solidFill>
                <a:latin typeface="Golos Text"/>
              </a:rPr>
              <a:t>−14,4% / −15,4%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81D"/>
                </a:solidFill>
                <a:latin typeface="Golos Text"/>
              </a:rPr>
              <a:t>Сжатие при раскрытии: </a:t>
            </a:r>
            <a:r>
              <a:rPr sz="1400" b="0">
                <a:solidFill>
                  <a:srgbClr val="2350D8"/>
                </a:solidFill>
                <a:latin typeface="Golos Text"/>
              </a:rPr>
              <a:t>−6,1% / −14,3%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81D"/>
                </a:solidFill>
                <a:latin typeface="Golos Text"/>
              </a:rPr>
              <a:t>Склейка + компактный CLOSED: </a:t>
            </a:r>
            <a:r>
              <a:rPr sz="1400" b="0">
                <a:solidFill>
                  <a:srgbClr val="2350D8"/>
                </a:solidFill>
                <a:latin typeface="Golos Text"/>
              </a:rPr>
              <a:t>−20,4% / −18,4%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75C66"/>
                </a:solidFill>
                <a:latin typeface="Golos Text"/>
              </a:rPr>
              <a:t>основной набор / отложенные карты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49841" y="1587460"/>
            <a:ext cx="5232269" cy="4444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575C66"/>
                </a:solidFill>
                <a:latin typeface="Golos Text"/>
              </a:rPr>
              <a:t>Ограничения и что дальше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81D"/>
                </a:solidFill>
                <a:latin typeface="Golos Text"/>
              </a:rPr>
              <a:t>Интервалы широкие: карт всего 6 и 4, задачи без пути дают большую часть времени.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81D"/>
                </a:solidFill>
                <a:latin typeface="Golos Text"/>
              </a:rPr>
              <a:t>Проверок клеток в сумме меньше, но цепочка проверяется сразу целиком — при дорогой проверке это надо учитывать.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81D"/>
                </a:solidFill>
                <a:latin typeface="Golos Text"/>
              </a:rPr>
              <a:t>Дальше: лемма 3 (f не убывает вниз по дереву) позволяет обрабатывать вершины дерева без общей кучи.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06389"/>
            <a:ext cx="10972525" cy="1079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16181D"/>
                </a:solidFill>
                <a:latin typeface="Golos Text"/>
              </a:rPr>
              <a:t>CA. Широкий прогон моего варианта: −9,6% на базовом наборе, −29,1% на дополнительном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413339"/>
            <a:ext cx="8254793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Поиск траекторий с примитивами движения · СПбГУ,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2142" y="6413339"/>
            <a:ext cx="1269968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1460463"/>
            <a:ext cx="10972525" cy="3174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270 задач, 10 карт, два набора манёвров; типичная задача — среднее геометрическое отношений времени, 95% ДИ бутстрэп по задачам.</a:t>
            </a:r>
          </a:p>
        </p:txBody>
      </p:sp>
      <p:pic>
        <p:nvPicPr>
          <p:cNvPr id="6" name="Picture 5" descr="fig_time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" y="1904952"/>
            <a:ext cx="10972525" cy="39187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584" y="5905352"/>
            <a:ext cx="10972525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Мой стенд ccbench: CPU-время поиска, минимум из 2–3 повторов, 3 процесса параллельно. K = 8 — порог Алексея в моей реализации.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06389"/>
            <a:ext cx="10972525" cy="1079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16181D"/>
                </a:solidFill>
                <a:latin typeface="Golos Text"/>
              </a:rPr>
              <a:t>CB. Условия двух экспериментов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413339"/>
            <a:ext cx="8254793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Поиск траекторий с примитивами движения · СПбГУ,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2142" y="6413339"/>
            <a:ext cx="1269968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75C66"/>
                </a:solidFill>
                <a:latin typeface="Golos Text"/>
              </a:rPr>
              <a:t>CB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584" y="1460463"/>
          <a:ext cx="10972525" cy="426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05"/>
                <a:gridCol w="4389010"/>
                <a:gridCol w="4389010"/>
              </a:tblGrid>
              <a:tr h="6095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6181D"/>
                          </a:solidFill>
                          <a:latin typeface="Golos Text"/>
                        </a:rPr>
                        <a:t/>
                      </a:r>
                    </a:p>
                  </a:txBody>
                  <a:tcPr marL="76198" marR="76198" marT="25399" marB="25399" anchor="ctr"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6181D"/>
                          </a:solidFill>
                          <a:latin typeface="Golos Text"/>
                        </a:rPr>
                        <a:t>Стенд склейки (сравнение)</a:t>
                      </a:r>
                    </a:p>
                  </a:txBody>
                  <a:tcPr marL="76198" marR="76198" marT="25399" marB="25399" anchor="ctr"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6181D"/>
                          </a:solidFill>
                          <a:latin typeface="Golos Text"/>
                        </a:rPr>
                        <a:t>Широкий прогон (мой)</a:t>
                      </a:r>
                    </a:p>
                  </a:txBody>
                  <a:tcPr marL="76198" marR="76198" marT="25399" marB="25399" anchor="ctr">
                    <a:solidFill>
                      <a:srgbClr val="F1F2F4"/>
                    </a:solidFill>
                  </a:tcPr>
                </a:tc>
              </a:tr>
              <a:tr h="6095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Задачи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core.tsv 24 + holdout.tsv 24, выбраны заранее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10 задач на карту по .scen, 270 всего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</a:tr>
              <a:tr h="6095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Наборы манёвров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base и add вперемешку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base (191) и add (79) отдельно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</a:tr>
              <a:tr h="6095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Замеры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2 процесса на разных ядрах, 10 и 3 повтора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3 процесса, минимум из 2–3 повторов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</a:tr>
              <a:tr h="6095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Метрика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сумма медиан CPU-времени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ср. геометрическое отношений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</a:tr>
              <a:tr h="6095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Интервал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бутстрэп по картам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бутстрэп по задачам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</a:tr>
              <a:tr h="6095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Проверка путей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стоимость, коллизии, восстановление пути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181D"/>
                          </a:solidFill>
                          <a:latin typeface="Golos Text"/>
                        </a:rPr>
                        <a:t>стоимость против всех вариантов</a:t>
                      </a:r>
                    </a:p>
                  </a:txBody>
                  <a:tcPr marL="76198" marR="76198" marT="25399" marB="25399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